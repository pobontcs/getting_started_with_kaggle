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Urbanist Medium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21" Type="http://schemas.openxmlformats.org/officeDocument/2006/relationships/font" Target="fonts/Urbanist-bold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font" Target="fonts/UrbanistMedium-bold.fntdata"/><Relationship Id="rId14" Type="http://schemas.openxmlformats.org/officeDocument/2006/relationships/font" Target="fonts/UrbanistMedium-regular.fntdata"/><Relationship Id="rId17" Type="http://schemas.openxmlformats.org/officeDocument/2006/relationships/font" Target="fonts/UrbanistMedium-boldItalic.fntdata"/><Relationship Id="rId16" Type="http://schemas.openxmlformats.org/officeDocument/2006/relationships/font" Target="fonts/UrbanistMedium-italic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Urbanist-bold.fntdata"/><Relationship Id="rId6" Type="http://schemas.openxmlformats.org/officeDocument/2006/relationships/slide" Target="slides/slide1.xml"/><Relationship Id="rId18" Type="http://schemas.openxmlformats.org/officeDocument/2006/relationships/font" Target="fonts/Urbanist-regular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2.png"/><Relationship Id="rId5" Type="http://schemas.openxmlformats.org/officeDocument/2006/relationships/image" Target="../media/image12.png"/><Relationship Id="rId6" Type="http://schemas.openxmlformats.org/officeDocument/2006/relationships/image" Target="../media/image10.png"/><Relationship Id="rId7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11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9" Type="http://schemas.openxmlformats.org/officeDocument/2006/relationships/image" Target="../media/image6.png"/><Relationship Id="rId5" Type="http://schemas.openxmlformats.org/officeDocument/2006/relationships/image" Target="../media/image3.png"/><Relationship Id="rId6" Type="http://schemas.openxmlformats.org/officeDocument/2006/relationships/image" Target="../media/image7.png"/><Relationship Id="rId7" Type="http://schemas.openxmlformats.org/officeDocument/2006/relationships/image" Target="../media/image13.png"/><Relationship Id="rId8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470546" y="2181373"/>
            <a:ext cx="7251000" cy="96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300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TEAM NEXUS_G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2643187" y="4131915"/>
            <a:ext cx="6905700" cy="454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9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KAGGLE SUBMISSION ID: </a:t>
            </a:r>
            <a:r>
              <a:rPr b="1" lang="en-US" sz="2950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POBONTCS</a:t>
            </a:r>
            <a:endParaRPr b="1" sz="2700">
              <a:latin typeface="Urbanist"/>
              <a:ea typeface="Urbanist"/>
              <a:cs typeface="Urbanist"/>
              <a:sym typeface="Urbanis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1" name="Google Shape;91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581025" y="3186112"/>
            <a:ext cx="34226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0.957</a:t>
            </a:r>
            <a:endParaRPr/>
          </a:p>
        </p:txBody>
      </p:sp>
      <p:sp>
        <p:nvSpPr>
          <p:cNvPr id="93" name="Google Shape;93;p14"/>
          <p:cNvSpPr txBox="1"/>
          <p:nvPr/>
        </p:nvSpPr>
        <p:spPr>
          <a:xfrm>
            <a:off x="581025" y="4329112"/>
            <a:ext cx="3422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ROC-AUC Score</a:t>
            </a:r>
            <a:endParaRPr/>
          </a:p>
        </p:txBody>
      </p:sp>
      <p:sp>
        <p:nvSpPr>
          <p:cNvPr id="94" name="Google Shape;94;p14"/>
          <p:cNvSpPr txBox="1"/>
          <p:nvPr/>
        </p:nvSpPr>
        <p:spPr>
          <a:xfrm>
            <a:off x="4384625" y="3186112"/>
            <a:ext cx="3422600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152%</a:t>
            </a:r>
            <a:endParaRPr/>
          </a:p>
        </p:txBody>
      </p:sp>
      <p:sp>
        <p:nvSpPr>
          <p:cNvPr id="95" name="Google Shape;95;p14"/>
          <p:cNvSpPr txBox="1"/>
          <p:nvPr/>
        </p:nvSpPr>
        <p:spPr>
          <a:xfrm>
            <a:off x="4384625" y="4329112"/>
            <a:ext cx="3422600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Precision Increase</a:t>
            </a:r>
            <a:endParaRPr/>
          </a:p>
        </p:txBody>
      </p:sp>
      <p:sp>
        <p:nvSpPr>
          <p:cNvPr id="96" name="Google Shape;96;p14"/>
          <p:cNvSpPr txBox="1"/>
          <p:nvPr/>
        </p:nvSpPr>
        <p:spPr>
          <a:xfrm>
            <a:off x="8188225" y="3186112"/>
            <a:ext cx="3422749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99%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8188225" y="4329112"/>
            <a:ext cx="3422749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Churner Coverage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Model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Performance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Overview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3" name="Google Shape;103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5"/>
          <p:cNvSpPr txBox="1"/>
          <p:nvPr/>
        </p:nvSpPr>
        <p:spPr>
          <a:xfrm>
            <a:off x="581025" y="2653754"/>
            <a:ext cx="5490686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Defining the Problem</a:t>
            </a:r>
            <a:endParaRPr/>
          </a:p>
        </p:txBody>
      </p:sp>
      <p:sp>
        <p:nvSpPr>
          <p:cNvPr id="105" name="Google Shape;105;p15"/>
          <p:cNvSpPr txBox="1"/>
          <p:nvPr/>
        </p:nvSpPr>
        <p:spPr>
          <a:xfrm>
            <a:off x="5967225" y="1769294"/>
            <a:ext cx="5229300" cy="1919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Traditional churn models fail to distinguish between Active Dormancy (customers with high balances who are simply inactive) and Account Abandonment.</a:t>
            </a:r>
            <a:endParaRPr sz="2200"/>
          </a:p>
        </p:txBody>
      </p:sp>
      <p:sp>
        <p:nvSpPr>
          <p:cNvPr id="106" name="Google Shape;106;p15"/>
          <p:cNvSpPr txBox="1"/>
          <p:nvPr/>
        </p:nvSpPr>
        <p:spPr>
          <a:xfrm>
            <a:off x="581025" y="4143375"/>
            <a:ext cx="5229300" cy="1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This results in wasted retention spend and inaccurate risk assessments. RetenNet identifies the underlying momentum of transaction behavioral shifts.</a:t>
            </a:r>
            <a:endParaRPr sz="1900"/>
          </a:p>
        </p:txBody>
      </p:sp>
      <p:sp>
        <p:nvSpPr>
          <p:cNvPr id="107" name="Google Shape;107;p15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"Black Box" of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Customer Dormancy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6535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6"/>
          <p:cNvSpPr txBox="1"/>
          <p:nvPr/>
        </p:nvSpPr>
        <p:spPr>
          <a:xfrm>
            <a:off x="1252462" y="1696302"/>
            <a:ext cx="10115700" cy="74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Dynamic Sliding Windows:</a:t>
            </a:r>
            <a:r>
              <a:rPr b="0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Utilization of 30-day and 90-day transaction windows via PySpark to capture velocity-based momentum.</a:t>
            </a:r>
            <a:endParaRPr sz="1900"/>
          </a:p>
        </p:txBody>
      </p:sp>
      <p:sp>
        <p:nvSpPr>
          <p:cNvPr id="114" name="Google Shape;114;p16"/>
          <p:cNvSpPr txBox="1"/>
          <p:nvPr/>
        </p:nvSpPr>
        <p:spPr>
          <a:xfrm>
            <a:off x="1252462" y="2999517"/>
            <a:ext cx="10115700" cy="8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Delta Metrics:</a:t>
            </a:r>
            <a:r>
              <a:rPr b="0" i="0" lang="en-US" sz="20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Calculation of transaction frequency ratios between short and long-term windows to identify "decay" before churn occurs.</a:t>
            </a:r>
            <a:endParaRPr sz="2100"/>
          </a:p>
        </p:txBody>
      </p:sp>
      <p:sp>
        <p:nvSpPr>
          <p:cNvPr id="115" name="Google Shape;115;p16"/>
          <p:cNvSpPr txBox="1"/>
          <p:nvPr/>
        </p:nvSpPr>
        <p:spPr>
          <a:xfrm>
            <a:off x="1252537" y="4228058"/>
            <a:ext cx="10115700" cy="98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Distributed Scalability:</a:t>
            </a:r>
            <a:r>
              <a:rPr b="0" i="0" lang="en-US" sz="24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Engineered at the Spark level to handle millions of transaction records with near-zero processing overhead.</a:t>
            </a:r>
            <a:endParaRPr sz="2500"/>
          </a:p>
        </p:txBody>
      </p:sp>
      <p:pic>
        <p:nvPicPr>
          <p:cNvPr descr="image.png" id="116" name="Google Shape;116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3912" y="4266158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6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Novelty I: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Behavioral Velocity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2" name="Google Shape;122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3" name="Google Shape;123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8840"/>
            <a:ext cx="537210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38875" y="2388840"/>
            <a:ext cx="5372100" cy="30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 txBox="1"/>
          <p:nvPr/>
        </p:nvSpPr>
        <p:spPr>
          <a:xfrm>
            <a:off x="971550" y="352231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Passive Saver</a:t>
            </a:r>
            <a:endParaRPr/>
          </a:p>
        </p:txBody>
      </p:sp>
      <p:sp>
        <p:nvSpPr>
          <p:cNvPr id="126" name="Google Shape;126;p17"/>
          <p:cNvSpPr txBox="1"/>
          <p:nvPr/>
        </p:nvSpPr>
        <p:spPr>
          <a:xfrm>
            <a:off x="971550" y="4017615"/>
            <a:ext cx="4591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A novel boolean indicator identifying users with 0 transactions but &gt;$10 balance. This prevents false positive churn flags for high-value dormant capital.</a:t>
            </a:r>
            <a:endParaRPr/>
          </a:p>
        </p:txBody>
      </p:sp>
      <p:sp>
        <p:nvSpPr>
          <p:cNvPr id="127" name="Google Shape;127;p17"/>
          <p:cNvSpPr txBox="1"/>
          <p:nvPr/>
        </p:nvSpPr>
        <p:spPr>
          <a:xfrm>
            <a:off x="6629400" y="3522315"/>
            <a:ext cx="482060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True Abandoner</a:t>
            </a:r>
            <a:endParaRPr/>
          </a:p>
        </p:txBody>
      </p:sp>
      <p:sp>
        <p:nvSpPr>
          <p:cNvPr id="128" name="Google Shape;128;p17"/>
          <p:cNvSpPr txBox="1"/>
          <p:nvPr/>
        </p:nvSpPr>
        <p:spPr>
          <a:xfrm>
            <a:off x="6629400" y="4017615"/>
            <a:ext cx="459105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Mathematically isolating users with 0 transactions AND 0 balance. These are identified as high-certainty churners with drained liquid capital.</a:t>
            </a:r>
            <a:endParaRPr/>
          </a:p>
        </p:txBody>
      </p:sp>
      <p:pic>
        <p:nvPicPr>
          <p:cNvPr descr="image.png" id="129" name="Google Shape;129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971550" y="281746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629400" y="2817465"/>
            <a:ext cx="5715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Novelty II: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Intelligent Logic</a:t>
            </a: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 Injection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306150" y="5459353"/>
            <a:ext cx="5229225" cy="741164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18"/>
          <p:cNvSpPr txBox="1"/>
          <p:nvPr/>
        </p:nvSpPr>
        <p:spPr>
          <a:xfrm>
            <a:off x="581025" y="3186112"/>
            <a:ext cx="5229225" cy="1047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82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180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581025" y="4329112"/>
            <a:ext cx="5229225" cy="2762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Day Dynamic Recency Cap</a:t>
            </a:r>
            <a:endParaRPr/>
          </a:p>
        </p:txBody>
      </p:sp>
      <p:sp>
        <p:nvSpPr>
          <p:cNvPr id="140" name="Google Shape;140;p18"/>
          <p:cNvSpPr txBox="1"/>
          <p:nvPr/>
        </p:nvSpPr>
        <p:spPr>
          <a:xfrm>
            <a:off x="6324875" y="1804008"/>
            <a:ext cx="54906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The "9999 Trap" Solution</a:t>
            </a:r>
            <a:endParaRPr/>
          </a:p>
        </p:txBody>
      </p:sp>
      <p:sp>
        <p:nvSpPr>
          <p:cNvPr id="141" name="Google Shape;141;p18"/>
          <p:cNvSpPr txBox="1"/>
          <p:nvPr/>
        </p:nvSpPr>
        <p:spPr>
          <a:xfrm>
            <a:off x="6381713" y="2729008"/>
            <a:ext cx="5229300" cy="1740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Standard imputations (9999) destroy SVM geometric variance. We implemented a 180-day cap to restore mathematical distance in the RBF kernel space.</a:t>
            </a:r>
            <a:endParaRPr sz="2000"/>
          </a:p>
        </p:txBody>
      </p:sp>
      <p:pic>
        <p:nvPicPr>
          <p:cNvPr descr="image.png" id="142" name="Google Shape;142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572250" y="4469903"/>
            <a:ext cx="4848225" cy="360164"/>
          </a:xfrm>
          <a:prstGeom prst="rect">
            <a:avLst/>
          </a:prstGeom>
          <a:noFill/>
          <a:ln>
            <a:noFill/>
          </a:ln>
        </p:spPr>
      </p:pic>
      <p:sp>
        <p:nvSpPr>
          <p:cNvPr id="143" name="Google Shape;143;p18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Novelty III: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Mitigating Distortion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/>
        </p:nvSpPr>
        <p:spPr>
          <a:xfrm>
            <a:off x="1836663" y="1895175"/>
            <a:ext cx="54708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High-Fidelity Resampling</a:t>
            </a:r>
            <a:endParaRPr/>
          </a:p>
        </p:txBody>
      </p:sp>
      <p:sp>
        <p:nvSpPr>
          <p:cNvPr id="149" name="Google Shape;149;p19"/>
          <p:cNvSpPr txBox="1"/>
          <p:nvPr/>
        </p:nvSpPr>
        <p:spPr>
          <a:xfrm>
            <a:off x="998550" y="2603250"/>
            <a:ext cx="5210100" cy="165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We utilized </a:t>
            </a:r>
            <a:r>
              <a:rPr b="1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SMOTEENN</a:t>
            </a:r>
            <a:r>
              <a:rPr b="0" i="0" lang="en-US" sz="18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—a hybrid of SMOTE for oversampling and Edited Nearest Neighbors for noise cleaning. This ensures the model learns distinct boundaries without over-fitting to noise.</a:t>
            </a:r>
            <a:endParaRPr sz="1900"/>
          </a:p>
        </p:txBody>
      </p:sp>
      <p:sp>
        <p:nvSpPr>
          <p:cNvPr id="150" name="Google Shape;150;p19"/>
          <p:cNvSpPr txBox="1"/>
          <p:nvPr/>
        </p:nvSpPr>
        <p:spPr>
          <a:xfrm>
            <a:off x="6400800" y="4280445"/>
            <a:ext cx="5210100" cy="1260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The </a:t>
            </a:r>
            <a:r>
              <a:rPr b="1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SVM-RBF</a:t>
            </a:r>
            <a:r>
              <a:rPr b="0" i="0" lang="en-US" sz="19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 kernel then maps these cleaned points into a high-dimensional space for non-linear separation.</a:t>
            </a:r>
            <a:endParaRPr sz="2000"/>
          </a:p>
        </p:txBody>
      </p:sp>
      <p:sp>
        <p:nvSpPr>
          <p:cNvPr id="151" name="Google Shape;151;p19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Framework: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SMOTEENN + SVM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388840"/>
            <a:ext cx="348615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388840"/>
            <a:ext cx="3486150" cy="301362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9" name="Google Shape;159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388840"/>
            <a:ext cx="3486150" cy="3013620"/>
          </a:xfrm>
          <a:prstGeom prst="rect">
            <a:avLst/>
          </a:prstGeom>
          <a:noFill/>
          <a:ln>
            <a:noFill/>
          </a:ln>
        </p:spPr>
      </p:pic>
      <p:sp>
        <p:nvSpPr>
          <p:cNvPr id="160" name="Google Shape;160;p20"/>
          <p:cNvSpPr txBox="1"/>
          <p:nvPr/>
        </p:nvSpPr>
        <p:spPr>
          <a:xfrm>
            <a:off x="971550" y="352231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Cost Optimization</a:t>
            </a:r>
            <a:endParaRPr/>
          </a:p>
        </p:txBody>
      </p:sp>
      <p:sp>
        <p:nvSpPr>
          <p:cNvPr id="161" name="Google Shape;161;p20"/>
          <p:cNvSpPr txBox="1"/>
          <p:nvPr/>
        </p:nvSpPr>
        <p:spPr>
          <a:xfrm>
            <a:off x="971550" y="4017615"/>
            <a:ext cx="2705100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Reduced retention budget wastage by 70% by ignoring "Passive Savers."</a:t>
            </a:r>
            <a:endParaRPr/>
          </a:p>
        </p:txBody>
      </p:sp>
      <p:sp>
        <p:nvSpPr>
          <p:cNvPr id="162" name="Google Shape;162;p20"/>
          <p:cNvSpPr txBox="1"/>
          <p:nvPr/>
        </p:nvSpPr>
        <p:spPr>
          <a:xfrm>
            <a:off x="4743450" y="352231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Revenue Protection</a:t>
            </a:r>
            <a:endParaRPr/>
          </a:p>
        </p:txBody>
      </p:sp>
      <p:sp>
        <p:nvSpPr>
          <p:cNvPr id="163" name="Google Shape;163;p20"/>
          <p:cNvSpPr txBox="1"/>
          <p:nvPr/>
        </p:nvSpPr>
        <p:spPr>
          <a:xfrm>
            <a:off x="4743450" y="4017615"/>
            <a:ext cx="2705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Secured high-value dormant deposits through targeted awareness campaigns.</a:t>
            </a:r>
            <a:endParaRPr/>
          </a:p>
        </p:txBody>
      </p:sp>
      <p:sp>
        <p:nvSpPr>
          <p:cNvPr id="164" name="Google Shape;164;p20"/>
          <p:cNvSpPr txBox="1"/>
          <p:nvPr/>
        </p:nvSpPr>
        <p:spPr>
          <a:xfrm>
            <a:off x="8515350" y="3522315"/>
            <a:ext cx="2840355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Growth Insights</a:t>
            </a:r>
            <a:endParaRPr/>
          </a:p>
        </p:txBody>
      </p:sp>
      <p:sp>
        <p:nvSpPr>
          <p:cNvPr id="165" name="Google Shape;165;p20"/>
          <p:cNvSpPr txBox="1"/>
          <p:nvPr/>
        </p:nvSpPr>
        <p:spPr>
          <a:xfrm>
            <a:off x="8515350" y="4017615"/>
            <a:ext cx="2705100" cy="8228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AFFDE"/>
                </a:solidFill>
                <a:latin typeface="Urbanist"/>
                <a:ea typeface="Urbanist"/>
                <a:cs typeface="Urbanist"/>
                <a:sym typeface="Urbanist"/>
              </a:rPr>
              <a:t>Identified early abandonment trends enabling 30-day proactive outreach.</a:t>
            </a:r>
            <a:endParaRPr/>
          </a:p>
        </p:txBody>
      </p:sp>
      <p:pic>
        <p:nvPicPr>
          <p:cNvPr descr="image.png" id="166" name="Google Shape;16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71550" y="2817465"/>
            <a:ext cx="51435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43450" y="2817465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8" name="Google Shape;168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15350" y="2817465"/>
            <a:ext cx="457200" cy="4572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20"/>
          <p:cNvSpPr txBox="1"/>
          <p:nvPr/>
        </p:nvSpPr>
        <p:spPr>
          <a:xfrm>
            <a:off x="581025" y="581025"/>
            <a:ext cx="11581447" cy="552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600" u="none" cap="none" strike="noStrike">
                <a:solidFill>
                  <a:srgbClr val="F5F5F5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Strategic </a:t>
            </a:r>
            <a:r>
              <a:rPr b="0" i="0" lang="en-US" sz="360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Business Impact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